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B2A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3A4A63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G-Cloud Opportunity Briefing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CrozierScott ready to sell cloud, data &amp; AI services to UK public sector buyers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team  ·  July 2026  ·  Full detail in the companion brief (g-cloud-brief.md)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0594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8827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36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G-Cloud 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920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scheme, the Digital Marketplace, and how buyers use it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80594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18827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536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timing reality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78040" y="1920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there's no application window open right now — and what that means for us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49758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57439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G-Cloud vs DOS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3611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our services fit which framework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063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349758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57439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178040" y="3611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capabilities mapped to a focused service catalogue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754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518922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90" y="526603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approach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00200" y="5303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day rates, not fixed-price products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217920" y="4754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46520" y="518922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0" y="5266030"/>
            <a:ext cx="395021" cy="39502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documents &amp; next steps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178040" y="5303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we can turn into Jira epics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Agenda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G-Cloud?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pre-vetted supplier catalogue for government — an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 store”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public sector buyers can purchase cloud services from directly, without running a full tender each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apply once,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fixed window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 get listed on the Digital Marketplace. Once listed, any eligible public body can buy from us for the life of the framework.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6035040" cy="1737360"/>
          </a:xfrm>
          <a:prstGeom prst="roundRect">
            <a:avLst>
              <a:gd name="adj" fmla="val 4211"/>
            </a:avLst>
          </a:prstGeom>
          <a:solidFill>
            <a:srgbClr val="FBF3E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445952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CrozierScott's services fit Lot 3 — Cloud Support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Consultancy, implementation, migration &amp; integration — not hosting or a software product (Lots 1–2).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40880" y="1234440"/>
            <a:ext cx="4480560" cy="466344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G-Cloud lots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60920" y="201168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3A4A6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20116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0" y="20116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(IaaS/PaaS)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60920" y="2798064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3A4A63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27980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46720" y="279806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(Above Official)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60920" y="3584448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3A4A63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35844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46720" y="35844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SaaS (iSaaS)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60920" y="437083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3A4A63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0" y="43708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46720" y="437083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60920" y="5157216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D9A544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0" y="51572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0" y="51572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Support — our lot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What is G-Cloud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31520" cy="73152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7424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window is currently closed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Jan 2026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G-Cloud 15 applications closed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26280" y="18288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~Mar 2028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75488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window expected to open for new suppliers like us (Open Framework reopens ~18 months after Sep 2026 go-live)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0" y="18288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Dec 2027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64108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internal target: fully ready, well ahead of the window opening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4805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223764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4690872"/>
            <a:ext cx="502920" cy="50292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4761281"/>
            <a:ext cx="362102" cy="3621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0020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good news, not bad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00200" y="5029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to submit something in weeks. Targeting 3 December 2027 gives us a comfortable buffer to prepare case studies, policies and certifications properly, ready well before the window opens — and a nearer-term alternative, DOS7, went live in April 2026 and reopens every 18 months for bespoke-outcome work.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Current timing (verified via Digital Marketplace, July 2026)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G-Cloud vs DOS — which fits which work?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94360" cy="59436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17291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45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G-Cloud — repeatable services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4231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 catalogue service, e.g. “AI Analytics Pipeline Implementation”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client's data &amp; outputs differ; the approach &amp; tech stack are repeatable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landing zones, CI/CD, Terraform, Bedrock/Azure OpenAI integration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most of our day-to-day implementation work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645920"/>
            <a:ext cx="594360" cy="594360"/>
          </a:xfrm>
          <a:prstGeom prst="ellipse">
            <a:avLst/>
          </a:prstGeom>
          <a:solidFill>
            <a:srgbClr val="FBF3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0" y="17291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45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bespoke outcomes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29400" y="24231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publishes a unique requirement; suppliers compete on delivery approach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a brand-new, one-off digital product or team engagement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build a new case-management platform from scratch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genuinely novel build-from-scratch engagements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G-Cloud vs DOS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CrozierScott fits — our capability areas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team's account of delivery work over the past year — to be validated before external use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16642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049" y="1734617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860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Platforms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7432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Snowflake, dbt, S3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6642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734617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2860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 Integration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38728" y="27432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Claude, ChatGPT, Azure OpenAI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16642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889" y="173461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2860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27648" y="27432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ELT/ETL, APIs, automation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0684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0" y="16642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809" y="1734617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2860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16568" y="274320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AWS-first; Azure via partners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6118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25" name="Shape 19"/>
          <p:cNvSpPr/>
          <p:nvPr/>
        </p:nvSpPr>
        <p:spPr>
          <a:xfrm>
            <a:off x="1691640" y="38130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049" y="3883457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Automation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49808" y="489204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Jenkins, CI/CD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29000" y="36118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30" name="Shape 23"/>
          <p:cNvSpPr/>
          <p:nvPr/>
        </p:nvSpPr>
        <p:spPr>
          <a:xfrm>
            <a:off x="4480560" y="38130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969" y="3883457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38728" y="489204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Terraform-led; CloudFormation, Bicep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17920" y="36118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35" name="Shape 27"/>
          <p:cNvSpPr/>
          <p:nvPr/>
        </p:nvSpPr>
        <p:spPr>
          <a:xfrm>
            <a:off x="7269480" y="38130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889" y="3883457"/>
            <a:ext cx="362102" cy="3621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764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27648" y="489204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OpenMetadata, lineage, glossaries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06840" y="36118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58400" y="38130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8809" y="3883457"/>
            <a:ext cx="362102" cy="3621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656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16568" y="489204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semantic models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Where we fit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initial G-Cloud service catalogue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tightly-defined services, not twenty generic ones — easier to evidence, more credible to buyers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63624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999" y="16199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1732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141732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&amp; Platform Design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0" y="141732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AWS-first landing zones &amp; governance; Azure via partners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231136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377440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99" y="2433767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223113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828800" y="2231136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 Pipeline Engineering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949440" y="223113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Azure DevOps, deployment automation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044952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191256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" y="3247583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304495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3044952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Implementation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949440" y="304495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Terraform-led; CloudFormation &amp; Bicep also delivered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858768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" y="4005072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99" y="4061399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385876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828800" y="385876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 Development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949440" y="385876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ETL/ELT, integration, analytics pipelines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672584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4818888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99" y="4875215"/>
            <a:ext cx="289682" cy="28968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46725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1828800" y="4672584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Implementation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6949440" y="467258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/ Azure OpenAI, model integration, orchestration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5486400"/>
            <a:ext cx="10881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04672" y="5632704"/>
            <a:ext cx="402336" cy="402336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99" y="5689031"/>
            <a:ext cx="289682" cy="28968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98448" y="548640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1828800" y="548640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Integration Services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949440" y="5486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workflows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Where we fit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gaps to close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EFF6F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6312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varied delivery history: architecture, DevOps, data engineering, governance, AI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“repeatable service, bespoke delivery” — exactly what G-Cloud buyers expect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Plus already held — exceeds the mandatory Lot 3 baseline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relationships with iMpower &amp; TrustMark — both government-adjacent, strong case study/reference potential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day-rate pricing is normal for this supplier type, not a weakness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2801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BF3E3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554480"/>
            <a:ext cx="548640" cy="54864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16312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572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to close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SFIA-style rate card yet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 studies written up in buyer-ready format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status needs confirming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policy set (security, GDPR, BCP, etc.)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descriptions don't exist yet in G-Cloud's plain, compliance-first style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Where we fit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approach — SFIA day rates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consultancy pricing is normal on G-Cloud. Recommendation: 4–6 roles, not 10–15 copied from a template.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SFIA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Day Rate*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 – Apply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£500–£700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4 – Enable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Platform Engineer / DevOps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£700–£950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5 – Ensure &amp; Advise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Architect / AI Platform Consultant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£900–£1,250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6 – Initiate &amp; Influence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Cloud Architect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£1,200–£1,600+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market ranges, not official CCS rates — there is no fixed price list. Once published, rates are fixed for the framework term (though we can discount).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4828032"/>
            <a:ext cx="502920" cy="50292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4898441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482803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needed alongside the rate card: expenses policy, definition of a “working day”, minimum engagement terms, VAT statement.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Pricing approach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documents &amp; certifications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148772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documents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document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definitions per service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&amp; conditions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account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4173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89" y="148772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53712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Plus — already held ✓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— status to confirm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/ Public Liability insurance current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183880" y="14173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289" y="148772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396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policy set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11312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Policy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/ GDPR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&amp; Diversity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Slavery Statement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Evidence &amp; documents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— our biggest differentiator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 have 4–5 excellent case studies than 15 thin ones. Each covers: challenge → approach → technologies → outcomes → benefits.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196596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590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platform build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Snowflake / dbt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196596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10" y="20427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assessment (with TrustMark)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6616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/ Claude / ChatGPT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196596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iMpower Index — analytics platform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5508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transform → model → publish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06840" y="1691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1965960"/>
            <a:ext cx="548640" cy="548640"/>
          </a:xfrm>
          <a:prstGeom prst="ellipse">
            <a:avLst/>
          </a:prstGeom>
          <a:solidFill>
            <a:srgbClr val="E9EE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350" y="20427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implementation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4400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OpenMetadata, lineage, glossaries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internal validation before external use. Given iMpower and TrustMark's government-adjacent profile, worth asking both for a named reference or quote — more compelling to buyers than an anonymised write-up alone.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Evidence &amp; documents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strategy — two tracks in parallel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57400"/>
            <a:ext cx="777240" cy="77724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6621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20240" y="19385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G-Cloud 15 readiness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35040" y="164592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catalogue, rate card, policies, certifications &amp; case studies — fully ready by our target date of 3 December 2027, well ahead of the window reopening (expected ~March 2028). No need to rush.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434840"/>
            <a:ext cx="777240" cy="777240"/>
          </a:xfrm>
          <a:prstGeom prst="ellipse">
            <a:avLst/>
          </a:prstGeom>
          <a:solidFill>
            <a:srgbClr val="D9A5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54365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920240" y="4315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DOS7 scoping (nearer-term)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035040" y="40233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DOS7 is live now and reopens every 18 months. Assess whether bespoke build-from-scratch work fits DOS better, and scope a nearer-term submission.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Recommended strategy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for Jira epics &amp; tasks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Eddie / Scott to review and adjust before anything is created in Jira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2821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 &amp; definitions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72821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rate card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72821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(CE Plus renewal, ISO 27001, insurance)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6334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set (8 minimum policies)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542032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28072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6334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references (incl. iMpower/TrustMark)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542032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28072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1080" y="26334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artefacts (architecture, IaC examples)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621024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7124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bid library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3621024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0" y="38862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7124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DOS7 scoping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3621024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38862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41080" y="37124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G-Cloud 15 ready by 3 Dec 2027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Next steps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CrozierScott · G-Cloud Briefing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B2A4A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agree the checklist, then build the Jira epics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all sources and the complete checklist are in the companion document g-cloud-brief.md, stored alongside this deck in the project repo.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Digital Marketplace (applytosupply.digitalmarketplace.service.gov.uk) · GOV.UK G-Cloud buyers' guide · Computer Weekly · Burges Salmon · PublicTechnology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G-Cloud Opportunity Briefing - CrozierScott</dc:title>
  <dc:subject>PptxGenJS Presentation</dc:subject>
  <dc:creator>Claude</dc:creator>
  <cp:lastModifiedBy>Claude</cp:lastModifiedBy>
  <cp:revision>1</cp:revision>
  <dcterms:created xsi:type="dcterms:W3CDTF">2026-07-01T14:52:09Z</dcterms:created>
  <dcterms:modified xsi:type="dcterms:W3CDTF">2026-07-01T14:52:09Z</dcterms:modified>
</cp:coreProperties>
</file>