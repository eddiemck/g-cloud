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645920"/>
            <a:ext cx="4572000" cy="4572000"/>
          </a:xfrm>
          <a:prstGeom prst="ellipse">
            <a:avLst/>
          </a:prstGeom>
          <a:solidFill>
            <a:srgbClr val="1B2A4A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840480"/>
            <a:ext cx="2926080" cy="2926080"/>
          </a:xfrm>
          <a:prstGeom prst="ellipse">
            <a:avLst/>
          </a:prstGeom>
          <a:solidFill>
            <a:srgbClr val="3A4A63">
              <a:alpha val="6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7132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31520" y="23774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G-Cloud Opportunity Briefing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731520" y="36118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CrozierScott ready to sell cloud, data &amp; AI services to UK public sector buyers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31520" y="5943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4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team  ·  July 2026  ·  Full detail in the companion brief (g-cloud-brief.md)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805940"/>
            <a:ext cx="548640" cy="548640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490" y="1882750"/>
            <a:ext cx="395021" cy="3950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5361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G-Cloud is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600200" y="19202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scheme, the Digital Marketplace, and how buyers use it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46520" y="1805940"/>
            <a:ext cx="548640" cy="548640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3330" y="188275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78040" y="15361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timing reality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7178040" y="19202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there's no application window open right now — and what that means for us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40080" y="306324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68680" y="3497580"/>
            <a:ext cx="548640" cy="548640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490" y="3574390"/>
            <a:ext cx="395021" cy="39502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32278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G-Cloud vs DOS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600200" y="36118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our services fit which framework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217920" y="306324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446520" y="3497580"/>
            <a:ext cx="548640" cy="548640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3330" y="3574390"/>
            <a:ext cx="395021" cy="39502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178040" y="32278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fit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7178040" y="36118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capabilities mapped to a focused service catalogue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40080" y="475488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868680" y="5189220"/>
            <a:ext cx="548640" cy="548640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490" y="5266030"/>
            <a:ext cx="395021" cy="395021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600200" y="49194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approach</a:t>
            </a:r>
            <a:endParaRPr lang="en-US" sz="1500" dirty="0"/>
          </a:p>
        </p:txBody>
      </p:sp>
      <p:sp>
        <p:nvSpPr>
          <p:cNvPr id="27" name="Text 20"/>
          <p:cNvSpPr/>
          <p:nvPr/>
        </p:nvSpPr>
        <p:spPr>
          <a:xfrm>
            <a:off x="1600200" y="53035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SFIA day rates, not fixed-price products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6217920" y="475488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446520" y="5189220"/>
            <a:ext cx="548640" cy="548640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3330" y="5266030"/>
            <a:ext cx="395021" cy="395021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7178040" y="49194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Evidence, documents &amp; next steps</a:t>
            </a:r>
            <a:endParaRPr lang="en-US" sz="1500" dirty="0"/>
          </a:p>
        </p:txBody>
      </p:sp>
      <p:sp>
        <p:nvSpPr>
          <p:cNvPr id="32" name="Text 24"/>
          <p:cNvSpPr/>
          <p:nvPr/>
        </p:nvSpPr>
        <p:spPr>
          <a:xfrm>
            <a:off x="7178040" y="53035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checklist we can turn into Jira epics</a:t>
            </a:r>
            <a:endParaRPr lang="en-US" sz="1150" dirty="0"/>
          </a:p>
        </p:txBody>
      </p:sp>
      <p:sp>
        <p:nvSpPr>
          <p:cNvPr id="33" name="Text 25"/>
          <p:cNvSpPr/>
          <p:nvPr/>
        </p:nvSpPr>
        <p:spPr>
          <a:xfrm>
            <a:off x="457200" y="64465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Section: Agenda</a:t>
            </a:r>
            <a:endParaRPr lang="en-US" sz="1000" dirty="0"/>
          </a:p>
        </p:txBody>
      </p:sp>
      <p:sp>
        <p:nvSpPr>
          <p:cNvPr id="34" name="Text 26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 · G-Cloud Briefing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G-Cloud?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a pre-vetted supplier catalogue for government — an </a:t>
            </a:r>
            <a:pPr indent="0" marL="0">
              <a:lnSpc>
                <a:spcPct val="115000"/>
              </a:lnSpc>
              <a:buNone/>
            </a:pPr>
            <a:r>
              <a:rPr lang="en-US" sz="1500" b="1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“app store”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public sector buyers can purchase cloud services from directly, without running a full tender each time.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265176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 apply once,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a fixed window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to get listed on the Digital Marketplace. Once listed, any eligible public body can buy from us for the life of the framework.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4160520"/>
            <a:ext cx="6035040" cy="1737360"/>
          </a:xfrm>
          <a:prstGeom prst="roundRect">
            <a:avLst>
              <a:gd name="adj" fmla="val 4211"/>
            </a:avLst>
          </a:prstGeom>
          <a:solidFill>
            <a:srgbClr val="FBF3E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4389120"/>
            <a:ext cx="502920" cy="502920"/>
          </a:xfrm>
          <a:prstGeom prst="ellipse">
            <a:avLst/>
          </a:prstGeom>
          <a:solidFill>
            <a:srgbClr val="D9A54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089" y="4459529"/>
            <a:ext cx="362102" cy="3621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4343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CrozierScott's services fit Lot 3 — Cloud Support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554480" y="4709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Consultancy, implementation, migration &amp; integration — not hosting or a software product (Lots 1–2).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040880" y="1234440"/>
            <a:ext cx="4480560" cy="4663440"/>
          </a:xfrm>
          <a:prstGeom prst="roundRect">
            <a:avLst>
              <a:gd name="adj" fmla="val 2041"/>
            </a:avLst>
          </a:prstGeom>
          <a:solidFill>
            <a:srgbClr val="1B2A4A"/>
          </a:solidFill>
          <a:ln/>
        </p:spPr>
      </p:sp>
      <p:sp>
        <p:nvSpPr>
          <p:cNvPr id="11" name="Text 8"/>
          <p:cNvSpPr/>
          <p:nvPr/>
        </p:nvSpPr>
        <p:spPr>
          <a:xfrm>
            <a:off x="7360920" y="14630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G-Cloud lots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360920" y="2011680"/>
            <a:ext cx="3840480" cy="658368"/>
          </a:xfrm>
          <a:prstGeom prst="roundRect">
            <a:avLst>
              <a:gd name="adj" fmla="val 8333"/>
            </a:avLst>
          </a:prstGeom>
          <a:solidFill>
            <a:srgbClr val="3A4A63"/>
          </a:solidFill>
          <a:ln/>
        </p:spPr>
      </p:sp>
      <p:sp>
        <p:nvSpPr>
          <p:cNvPr id="13" name="Text 10"/>
          <p:cNvSpPr/>
          <p:nvPr/>
        </p:nvSpPr>
        <p:spPr>
          <a:xfrm>
            <a:off x="7498080" y="201168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1a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046720" y="201168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Hosting (IaaS/PaaS)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360920" y="2798064"/>
            <a:ext cx="3840480" cy="658368"/>
          </a:xfrm>
          <a:prstGeom prst="roundRect">
            <a:avLst>
              <a:gd name="adj" fmla="val 8333"/>
            </a:avLst>
          </a:prstGeom>
          <a:solidFill>
            <a:srgbClr val="3A4A63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0" y="2798064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046720" y="2798064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Hosting (Above Official)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360920" y="3584448"/>
            <a:ext cx="3840480" cy="658368"/>
          </a:xfrm>
          <a:prstGeom prst="roundRect">
            <a:avLst>
              <a:gd name="adj" fmla="val 8333"/>
            </a:avLst>
          </a:prstGeom>
          <a:solidFill>
            <a:srgbClr val="3A4A63"/>
          </a:solidFill>
          <a:ln/>
        </p:spPr>
      </p:sp>
      <p:sp>
        <p:nvSpPr>
          <p:cNvPr id="19" name="Text 16"/>
          <p:cNvSpPr/>
          <p:nvPr/>
        </p:nvSpPr>
        <p:spPr>
          <a:xfrm>
            <a:off x="7498080" y="3584448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2a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046720" y="358444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SaaS (iSaaS)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360920" y="4370832"/>
            <a:ext cx="3840480" cy="658368"/>
          </a:xfrm>
          <a:prstGeom prst="roundRect">
            <a:avLst>
              <a:gd name="adj" fmla="val 8333"/>
            </a:avLst>
          </a:prstGeom>
          <a:solidFill>
            <a:srgbClr val="3A4A63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0" y="4370832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046720" y="4370832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as a Service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7360920" y="5157216"/>
            <a:ext cx="3840480" cy="658368"/>
          </a:xfrm>
          <a:prstGeom prst="roundRect">
            <a:avLst>
              <a:gd name="adj" fmla="val 8333"/>
            </a:avLst>
          </a:prstGeom>
          <a:solidFill>
            <a:srgbClr val="D9A544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0" y="5157216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8046720" y="5157216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Support — our lot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457200" y="64465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1: What is G-Cloud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 · G-Cloud Briefing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640080"/>
            <a:ext cx="731520" cy="731520"/>
          </a:xfrm>
          <a:prstGeom prst="ellipse">
            <a:avLst/>
          </a:prstGeom>
          <a:solidFill>
            <a:srgbClr val="D9A54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3" y="742493"/>
            <a:ext cx="526694" cy="5266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658368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application window is currently closed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640080" y="18288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20574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A5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Jan 2026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68680" y="29260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G-Cloud 15 applications closed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26280" y="18288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1B2A4A"/>
          </a:solidFill>
          <a:ln/>
        </p:spPr>
      </p:sp>
      <p:sp>
        <p:nvSpPr>
          <p:cNvPr id="9" name="Text 6"/>
          <p:cNvSpPr/>
          <p:nvPr/>
        </p:nvSpPr>
        <p:spPr>
          <a:xfrm>
            <a:off x="4754880" y="20574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A5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 2026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4754880" y="29260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G-Cloud 15 expected to go live (for suppliers who already applied)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412480" y="18288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1B2A4A"/>
          </a:solidFill>
          <a:ln/>
        </p:spPr>
      </p:sp>
      <p:sp>
        <p:nvSpPr>
          <p:cNvPr id="12" name="Text 9"/>
          <p:cNvSpPr/>
          <p:nvPr/>
        </p:nvSpPr>
        <p:spPr>
          <a:xfrm>
            <a:off x="8641080" y="20574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A5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~2028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8641080" y="29260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window for new suppliers like us (Open Framework reopens ~18 months after go-live)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0080" y="448056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223764"/>
          </a:solidFill>
          <a:ln/>
        </p:spPr>
      </p:sp>
      <p:sp>
        <p:nvSpPr>
          <p:cNvPr id="15" name="Shape 12"/>
          <p:cNvSpPr/>
          <p:nvPr/>
        </p:nvSpPr>
        <p:spPr>
          <a:xfrm>
            <a:off x="868680" y="4690872"/>
            <a:ext cx="502920" cy="502920"/>
          </a:xfrm>
          <a:prstGeom prst="ellipse">
            <a:avLst/>
          </a:prstGeom>
          <a:solidFill>
            <a:srgbClr val="D9A544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089" y="4761281"/>
            <a:ext cx="362102" cy="36210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600200" y="4663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good news, not bad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1600200" y="50292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rush to submit something in weeks. We have ~18 months of genuine runway to prepare case studies, policies and certifications properly — and a nearer-term alternative, DOS7, went live in April 2026 and reopens every 18 months for bespoke-outcome work.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457200" y="64465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2: Current timing (verified via Digital Marketplace, July 2026)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 · G-Cloud Briefing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G-Cloud vs DOS — which fits which work?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1208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645920"/>
            <a:ext cx="594360" cy="594360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610" y="1729130"/>
            <a:ext cx="427939" cy="4279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64592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G-Cloud — repeatable services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60120" y="242316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Sells a catalogue service, e.g. “AI Analytics Pipeline Implementation”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client's data &amp; outputs differ; the approach &amp; tech stack are repeatable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landing zones, CI/CD, Terraform, Bedrock/Azure OpenAI integration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most of our day-to-day implementation work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309360" y="1371600"/>
            <a:ext cx="521208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0" y="1645920"/>
            <a:ext cx="594360" cy="594360"/>
          </a:xfrm>
          <a:prstGeom prst="ellipse">
            <a:avLst/>
          </a:prstGeom>
          <a:solidFill>
            <a:srgbClr val="FBF3E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6890" y="1729130"/>
            <a:ext cx="427939" cy="42793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60920" y="164592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— bespoke outcomes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629400" y="242316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publishes a unique requirement; suppliers compete on delivery approach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is a brand-new, one-off digital product or team engagement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build a new case-management platform from scratch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genuinely novel build-from-scratch engagements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465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3: G-Cloud vs DOS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 · G-Cloud Briefing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CrozierScott fits — our capability areas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the team's account of delivery work over the past year — to be validated before external use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7F9FC"/>
          </a:solidFill>
          <a:ln/>
        </p:spPr>
      </p:sp>
      <p:sp>
        <p:nvSpPr>
          <p:cNvPr id="5" name="Shape 3"/>
          <p:cNvSpPr/>
          <p:nvPr/>
        </p:nvSpPr>
        <p:spPr>
          <a:xfrm>
            <a:off x="1691640" y="166420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2049" y="1734617"/>
            <a:ext cx="362102" cy="3621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228600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Data Platforms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49808" y="2743200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AWS, Snowflake, dbt, S3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429000" y="146304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7F9FC"/>
          </a:solidFill>
          <a:ln/>
        </p:spPr>
      </p:sp>
      <p:sp>
        <p:nvSpPr>
          <p:cNvPr id="10" name="Shape 7"/>
          <p:cNvSpPr/>
          <p:nvPr/>
        </p:nvSpPr>
        <p:spPr>
          <a:xfrm>
            <a:off x="4480560" y="166420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969" y="1734617"/>
            <a:ext cx="362102" cy="36210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38728" y="228600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LLM Integration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538728" y="2743200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Bedrock, Claude, ChatGPT, Azure OpenAI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17920" y="146304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7F9FC"/>
          </a:solidFill>
          <a:ln/>
        </p:spPr>
      </p:sp>
      <p:sp>
        <p:nvSpPr>
          <p:cNvPr id="15" name="Shape 11"/>
          <p:cNvSpPr/>
          <p:nvPr/>
        </p:nvSpPr>
        <p:spPr>
          <a:xfrm>
            <a:off x="7269480" y="166420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9889" y="1734617"/>
            <a:ext cx="362102" cy="3621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27648" y="228600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327648" y="2743200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ELT/ETL, APIs, automation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9006840" y="146304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7F9FC"/>
          </a:solidFill>
          <a:ln/>
        </p:spPr>
      </p:sp>
      <p:sp>
        <p:nvSpPr>
          <p:cNvPr id="20" name="Shape 15"/>
          <p:cNvSpPr/>
          <p:nvPr/>
        </p:nvSpPr>
        <p:spPr>
          <a:xfrm>
            <a:off x="10058400" y="166420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8809" y="1734617"/>
            <a:ext cx="362102" cy="36210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16568" y="228600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Architecture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9116568" y="2743200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AWS, Azure, networking, IAM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640080" y="361188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7F9FC"/>
          </a:solidFill>
          <a:ln/>
        </p:spPr>
      </p:sp>
      <p:sp>
        <p:nvSpPr>
          <p:cNvPr id="25" name="Shape 19"/>
          <p:cNvSpPr/>
          <p:nvPr/>
        </p:nvSpPr>
        <p:spPr>
          <a:xfrm>
            <a:off x="1691640" y="381304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2049" y="3883457"/>
            <a:ext cx="362102" cy="36210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49808" y="443484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&amp; Automation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749808" y="4892040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Jenkins, CI/CD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3429000" y="361188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7F9FC"/>
          </a:solidFill>
          <a:ln/>
        </p:spPr>
      </p:sp>
      <p:sp>
        <p:nvSpPr>
          <p:cNvPr id="30" name="Shape 23"/>
          <p:cNvSpPr/>
          <p:nvPr/>
        </p:nvSpPr>
        <p:spPr>
          <a:xfrm>
            <a:off x="4480560" y="381304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0969" y="3883457"/>
            <a:ext cx="362102" cy="36210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3538728" y="443484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Code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3538728" y="4892040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Terraform, Bicep, CloudFormation</a:t>
            </a:r>
            <a:endParaRPr lang="en-US" sz="1050" dirty="0"/>
          </a:p>
        </p:txBody>
      </p:sp>
      <p:sp>
        <p:nvSpPr>
          <p:cNvPr id="34" name="Shape 26"/>
          <p:cNvSpPr/>
          <p:nvPr/>
        </p:nvSpPr>
        <p:spPr>
          <a:xfrm>
            <a:off x="6217920" y="361188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7F9FC"/>
          </a:solidFill>
          <a:ln/>
        </p:spPr>
      </p:sp>
      <p:sp>
        <p:nvSpPr>
          <p:cNvPr id="35" name="Shape 27"/>
          <p:cNvSpPr/>
          <p:nvPr/>
        </p:nvSpPr>
        <p:spPr>
          <a:xfrm>
            <a:off x="7269480" y="381304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9889" y="3883457"/>
            <a:ext cx="362102" cy="362102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6327648" y="443484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Governance</a:t>
            </a:r>
            <a:endParaRPr lang="en-US" sz="1250" dirty="0"/>
          </a:p>
        </p:txBody>
      </p:sp>
      <p:sp>
        <p:nvSpPr>
          <p:cNvPr id="38" name="Text 29"/>
          <p:cNvSpPr/>
          <p:nvPr/>
        </p:nvSpPr>
        <p:spPr>
          <a:xfrm>
            <a:off x="6327648" y="4892040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OpenMetadata, lineage, glossaries</a:t>
            </a:r>
            <a:endParaRPr lang="en-US" sz="1050" dirty="0"/>
          </a:p>
        </p:txBody>
      </p:sp>
      <p:sp>
        <p:nvSpPr>
          <p:cNvPr id="39" name="Shape 30"/>
          <p:cNvSpPr/>
          <p:nvPr/>
        </p:nvSpPr>
        <p:spPr>
          <a:xfrm>
            <a:off x="9006840" y="361188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7F9FC"/>
          </a:solidFill>
          <a:ln/>
        </p:spPr>
      </p:sp>
      <p:sp>
        <p:nvSpPr>
          <p:cNvPr id="40" name="Shape 31"/>
          <p:cNvSpPr/>
          <p:nvPr/>
        </p:nvSpPr>
        <p:spPr>
          <a:xfrm>
            <a:off x="10058400" y="381304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28809" y="3883457"/>
            <a:ext cx="362102" cy="362102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9116568" y="443484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Platforms</a:t>
            </a:r>
            <a:endParaRPr lang="en-US" sz="1250" dirty="0"/>
          </a:p>
        </p:txBody>
      </p:sp>
      <p:sp>
        <p:nvSpPr>
          <p:cNvPr id="43" name="Text 33"/>
          <p:cNvSpPr/>
          <p:nvPr/>
        </p:nvSpPr>
        <p:spPr>
          <a:xfrm>
            <a:off x="9116568" y="4892040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BI, semantic models</a:t>
            </a:r>
            <a:endParaRPr lang="en-US" sz="1050" dirty="0"/>
          </a:p>
        </p:txBody>
      </p:sp>
      <p:sp>
        <p:nvSpPr>
          <p:cNvPr id="44" name="Text 34"/>
          <p:cNvSpPr/>
          <p:nvPr/>
        </p:nvSpPr>
        <p:spPr>
          <a:xfrm>
            <a:off x="457200" y="64465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4: Where we fit</a:t>
            </a:r>
            <a:endParaRPr lang="en-US" sz="1000" dirty="0"/>
          </a:p>
        </p:txBody>
      </p:sp>
      <p:sp>
        <p:nvSpPr>
          <p:cNvPr id="45" name="Text 35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 · G-Cloud Briefing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initial G-Cloud service catalogue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tightly-defined services, not twenty generic ones — easier to evidence, more credible to buyers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10881360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563624"/>
            <a:ext cx="402336" cy="402336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0999" y="1619951"/>
            <a:ext cx="289682" cy="2896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98448" y="1417320"/>
            <a:ext cx="457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A5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828800" y="1417320"/>
            <a:ext cx="502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Architecture &amp; Platform Design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949440" y="1417320"/>
            <a:ext cx="4480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zones, governance, networking, identity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40080" y="2231136"/>
            <a:ext cx="10881360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04672" y="2377440"/>
            <a:ext cx="402336" cy="402336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999" y="2433767"/>
            <a:ext cx="289682" cy="28968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98448" y="2231136"/>
            <a:ext cx="457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A5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1828800" y="2231136"/>
            <a:ext cx="502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&amp; CI/CD Pipeline Engineering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6949440" y="2231136"/>
            <a:ext cx="4480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Actions, Azure DevOps, deployment automation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40080" y="3044952"/>
            <a:ext cx="10881360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4672" y="3191256"/>
            <a:ext cx="402336" cy="402336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999" y="3247583"/>
            <a:ext cx="289682" cy="28968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98448" y="3044952"/>
            <a:ext cx="457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A5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1828800" y="3044952"/>
            <a:ext cx="502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Code Implementation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6949440" y="3044952"/>
            <a:ext cx="4480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Terraform, Bicep, CloudFormation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40080" y="3858768"/>
            <a:ext cx="10881360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04672" y="4005072"/>
            <a:ext cx="402336" cy="402336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999" y="4061399"/>
            <a:ext cx="289682" cy="28968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298448" y="3858768"/>
            <a:ext cx="457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A5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1828800" y="3858768"/>
            <a:ext cx="502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 Pipeline Development</a:t>
            </a:r>
            <a:endParaRPr lang="en-US" sz="1350" dirty="0"/>
          </a:p>
        </p:txBody>
      </p:sp>
      <p:sp>
        <p:nvSpPr>
          <p:cNvPr id="27" name="Text 21"/>
          <p:cNvSpPr/>
          <p:nvPr/>
        </p:nvSpPr>
        <p:spPr>
          <a:xfrm>
            <a:off x="6949440" y="3858768"/>
            <a:ext cx="4480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ETL/ELT, integration, analytics pipelines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640080" y="4672584"/>
            <a:ext cx="10881360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804672" y="4818888"/>
            <a:ext cx="402336" cy="402336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999" y="4875215"/>
            <a:ext cx="289682" cy="28968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298448" y="4672584"/>
            <a:ext cx="457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A5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25"/>
          <p:cNvSpPr/>
          <p:nvPr/>
        </p:nvSpPr>
        <p:spPr>
          <a:xfrm>
            <a:off x="1828800" y="4672584"/>
            <a:ext cx="502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Platform Implementation</a:t>
            </a:r>
            <a:endParaRPr lang="en-US" sz="1350" dirty="0"/>
          </a:p>
        </p:txBody>
      </p:sp>
      <p:sp>
        <p:nvSpPr>
          <p:cNvPr id="33" name="Text 26"/>
          <p:cNvSpPr/>
          <p:nvPr/>
        </p:nvSpPr>
        <p:spPr>
          <a:xfrm>
            <a:off x="6949440" y="4672584"/>
            <a:ext cx="4480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/ Azure OpenAI, model integration, orchestration</a:t>
            </a:r>
            <a:endParaRPr lang="en-US" sz="1150" dirty="0"/>
          </a:p>
        </p:txBody>
      </p:sp>
      <p:sp>
        <p:nvSpPr>
          <p:cNvPr id="34" name="Shape 27"/>
          <p:cNvSpPr/>
          <p:nvPr/>
        </p:nvSpPr>
        <p:spPr>
          <a:xfrm>
            <a:off x="640080" y="5486400"/>
            <a:ext cx="10881360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804672" y="5632704"/>
            <a:ext cx="402336" cy="402336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999" y="5689031"/>
            <a:ext cx="289682" cy="28968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298448" y="5486400"/>
            <a:ext cx="457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A5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38" name="Text 30"/>
          <p:cNvSpPr/>
          <p:nvPr/>
        </p:nvSpPr>
        <p:spPr>
          <a:xfrm>
            <a:off x="1828800" y="5486400"/>
            <a:ext cx="502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Integration Services</a:t>
            </a:r>
            <a:endParaRPr lang="en-US" sz="1350" dirty="0"/>
          </a:p>
        </p:txBody>
      </p:sp>
      <p:sp>
        <p:nvSpPr>
          <p:cNvPr id="39" name="Text 31"/>
          <p:cNvSpPr/>
          <p:nvPr/>
        </p:nvSpPr>
        <p:spPr>
          <a:xfrm>
            <a:off x="6949440" y="5486400"/>
            <a:ext cx="4480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workflows</a:t>
            </a:r>
            <a:endParaRPr lang="en-US" sz="1150" dirty="0"/>
          </a:p>
        </p:txBody>
      </p:sp>
      <p:sp>
        <p:nvSpPr>
          <p:cNvPr id="40" name="Text 32"/>
          <p:cNvSpPr/>
          <p:nvPr/>
        </p:nvSpPr>
        <p:spPr>
          <a:xfrm>
            <a:off x="457200" y="64465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4: Where we fit</a:t>
            </a:r>
            <a:endParaRPr lang="en-US" sz="1000" dirty="0"/>
          </a:p>
        </p:txBody>
      </p:sp>
      <p:sp>
        <p:nvSpPr>
          <p:cNvPr id="41" name="Text 33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 · G-Cloud Briefing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 &amp; gaps to close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5212080" cy="4754880"/>
          </a:xfrm>
          <a:prstGeom prst="roundRect">
            <a:avLst>
              <a:gd name="adj" fmla="val 1923"/>
            </a:avLst>
          </a:prstGeom>
          <a:solidFill>
            <a:srgbClr val="EFF6F0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554480"/>
            <a:ext cx="548640" cy="548640"/>
          </a:xfrm>
          <a:prstGeom prst="ellipse">
            <a:avLst/>
          </a:prstGeom>
          <a:solidFill>
            <a:srgbClr val="3E8E5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210" y="1631290"/>
            <a:ext cx="395021" cy="3950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57276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914400" y="224028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Genuine, varied delivery history: architecture, DevOps, data engineering, governance, AI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Naturally “repeatable service, bespoke delivery” — exactly what G-Cloud buyers expect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project experience that can become case studies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Bespoke day-rate pricing is normal for this supplier type, not a weakness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309360" y="1280160"/>
            <a:ext cx="5212080" cy="4754880"/>
          </a:xfrm>
          <a:prstGeom prst="roundRect">
            <a:avLst>
              <a:gd name="adj" fmla="val 1923"/>
            </a:avLst>
          </a:prstGeom>
          <a:solidFill>
            <a:srgbClr val="FBF3E3"/>
          </a:solidFill>
          <a:ln/>
        </p:spPr>
      </p:sp>
      <p:sp>
        <p:nvSpPr>
          <p:cNvPr id="9" name="Shape 6"/>
          <p:cNvSpPr/>
          <p:nvPr/>
        </p:nvSpPr>
        <p:spPr>
          <a:xfrm>
            <a:off x="6583680" y="1554480"/>
            <a:ext cx="548640" cy="548640"/>
          </a:xfrm>
          <a:prstGeom prst="ellipse">
            <a:avLst/>
          </a:prstGeom>
          <a:solidFill>
            <a:srgbClr val="D9A544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490" y="163129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69480" y="157276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to close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6629400" y="224028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published SFIA-style rate card yet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case studies written up in buyer-ready format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status (Cyber Essentials, ISO 27001) needs confirming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consolidated policy set (security, GDPR, BCP, etc.)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descriptions don't exist yet in G-Cloud's plain, compliance-first style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57200" y="64465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4: Where we fit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 · G-Cloud Briefing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Pricing approach — SFIA day rates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Bespoke consultancy pricing is normal on G-Cloud. Recommendation: 4–6 roles, not 10–15 copied from a template.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2377440"/>
        </p:xfrm>
        <a:graphic>
          <a:graphicData uri="http://schemas.openxmlformats.org/drawingml/2006/table">
            <a:tbl>
              <a:tblPr/>
              <a:tblGrid>
                <a:gridCol w="3291840"/>
                <a:gridCol w="484632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SFIA Level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Suggested Role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Indicative Day Rate*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3 – Apply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Platform Engineer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£500–£700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4 – Enable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Platform Engineer / DevOps Engineer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£700–£950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5 – Ensure &amp; Advise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Architect / AI Platform Consultant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£900–£1,250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6 – Initiate &amp; Influence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Cloud Architect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£1,200–£1,600+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114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*Illustrative market ranges, not official CCS rates — there is no fixed price list. Once published, rates are fixed for the framework term (though we can discount).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640080" y="466344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4828032"/>
            <a:ext cx="502920" cy="502920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089" y="4898441"/>
            <a:ext cx="362102" cy="36210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4828032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needed alongside the rate card: expenses policy, definition of a “working day”, minimum engagement terms, VAT statement.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457200" y="64465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5: Pricing approach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 · G-Cloud Briefing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Evidence, documents &amp; certifications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3520440" cy="5029200"/>
          </a:xfrm>
          <a:prstGeom prst="roundRect">
            <a:avLst>
              <a:gd name="adj" fmla="val 2078"/>
            </a:avLst>
          </a:prstGeom>
          <a:solidFill>
            <a:srgbClr val="F7F9FC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41732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089" y="1487729"/>
            <a:ext cx="362102" cy="3621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4173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documents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96112" y="2103120"/>
            <a:ext cx="30175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document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definitions per service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&amp; conditions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Marketplace account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97680" y="1188720"/>
            <a:ext cx="3520440" cy="5029200"/>
          </a:xfrm>
          <a:prstGeom prst="roundRect">
            <a:avLst>
              <a:gd name="adj" fmla="val 2078"/>
            </a:avLst>
          </a:prstGeom>
          <a:solidFill>
            <a:srgbClr val="F7F9FC"/>
          </a:solidFill>
          <a:ln/>
        </p:spPr>
      </p:sp>
      <p:sp>
        <p:nvSpPr>
          <p:cNvPr id="9" name="Shape 6"/>
          <p:cNvSpPr/>
          <p:nvPr/>
        </p:nvSpPr>
        <p:spPr>
          <a:xfrm>
            <a:off x="4526280" y="141732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6689" y="1487729"/>
            <a:ext cx="362102" cy="3621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166360" y="14173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553712" y="2103120"/>
            <a:ext cx="30175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Essentials — now mandatory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27001 (strengthens bid)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/ Public Liability insurance current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955280" y="1188720"/>
            <a:ext cx="3520440" cy="5029200"/>
          </a:xfrm>
          <a:prstGeom prst="roundRect">
            <a:avLst>
              <a:gd name="adj" fmla="val 2078"/>
            </a:avLst>
          </a:prstGeom>
          <a:solidFill>
            <a:srgbClr val="F7F9FC"/>
          </a:solidFill>
          <a:ln/>
        </p:spPr>
      </p:sp>
      <p:sp>
        <p:nvSpPr>
          <p:cNvPr id="14" name="Shape 10"/>
          <p:cNvSpPr/>
          <p:nvPr/>
        </p:nvSpPr>
        <p:spPr>
          <a:xfrm>
            <a:off x="8183880" y="141732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4289" y="1487729"/>
            <a:ext cx="362102" cy="36210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823960" y="14173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policy set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211312" y="2103120"/>
            <a:ext cx="30175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Security Policy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 / GDPR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Response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Continuity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Equality &amp; Diversity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Slavery Statement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457200" y="64465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6: Evidence &amp; documents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 · G-Cloud Briefing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studies — our biggest differentiator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to have 4–5 excellent case studies than 15 thin ones. Each covers: challenge → approach → technologies → outcomes → benefits.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68780" y="1965960"/>
            <a:ext cx="548640" cy="548640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5590" y="2042770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6974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data platform build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3383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Snowflake / dbt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429000" y="169164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57700" y="1965960"/>
            <a:ext cx="548640" cy="548640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4510" y="2042770"/>
            <a:ext cx="395021" cy="3950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66160" y="26974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document assessment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566160" y="3383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/ Claude / ChatGPT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17920" y="169164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246620" y="1965960"/>
            <a:ext cx="548640" cy="548640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430" y="2042770"/>
            <a:ext cx="395021" cy="39502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55080" y="26974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/ index platform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355080" y="3383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→ transform → model → publish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9006840" y="169164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0035540" y="1965960"/>
            <a:ext cx="548640" cy="548640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2350" y="2042770"/>
            <a:ext cx="395021" cy="39502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44000" y="26974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governance implementation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9144000" y="3383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OpenMetadata, lineage, glossaries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640080" y="4343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internal validation before external use — plus reference architecture diagrams, Terraform structure examples, and a security/governance write-up as supporting technical artefacts.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457200" y="64465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6: Evidence &amp; documents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 · G-Cloud Briefing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strategy — two tracks in parallel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881360" cy="2148840"/>
          </a:xfrm>
          <a:prstGeom prst="roundRect">
            <a:avLst>
              <a:gd name="adj" fmla="val 4255"/>
            </a:avLst>
          </a:prstGeom>
          <a:solidFill>
            <a:srgbClr val="1B2A4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057400"/>
            <a:ext cx="777240" cy="777240"/>
          </a:xfrm>
          <a:prstGeom prst="ellipse">
            <a:avLst/>
          </a:prstGeom>
          <a:solidFill>
            <a:srgbClr val="D9A544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214" y="2166214"/>
            <a:ext cx="559613" cy="5596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20240" y="16276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920240" y="193852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G-Cloud 15 readiness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035040" y="164592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catalogue, rate card, policies, certifications &amp; case studies over the next 12–18 months — ready the moment the ~2028 window reopens. No need to rush.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3749040"/>
            <a:ext cx="10881360" cy="2148840"/>
          </a:xfrm>
          <a:prstGeom prst="roundRect">
            <a:avLst>
              <a:gd name="adj" fmla="val 4255"/>
            </a:avLst>
          </a:prstGeom>
          <a:solidFill>
            <a:srgbClr val="1B2A4A"/>
          </a:solidFill>
          <a:ln/>
        </p:spPr>
      </p:sp>
      <p:sp>
        <p:nvSpPr>
          <p:cNvPr id="10" name="Shape 7"/>
          <p:cNvSpPr/>
          <p:nvPr/>
        </p:nvSpPr>
        <p:spPr>
          <a:xfrm>
            <a:off x="914400" y="4434840"/>
            <a:ext cx="777240" cy="777240"/>
          </a:xfrm>
          <a:prstGeom prst="ellipse">
            <a:avLst/>
          </a:prstGeom>
          <a:solidFill>
            <a:srgbClr val="D9A54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214" y="4543654"/>
            <a:ext cx="559613" cy="55961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92024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920240" y="431596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DOS7 scoping (nearer-term)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6035040" y="402336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DOS7 is live now and reopens every 18 months. Assess whether bespoke build-from-scratch work fits DOS better, and scope a nearer-term submission.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57200" y="64465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7: Recommended strategy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 · G-Cloud Briefing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Checklist for Jira epics &amp; tasks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Eddie / Scott to review and adjust before anything is created in Jira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3520440" cy="914400"/>
          </a:xfrm>
          <a:prstGeom prst="roundRect">
            <a:avLst>
              <a:gd name="adj" fmla="val 7000"/>
            </a:avLst>
          </a:prstGeom>
          <a:solidFill>
            <a:srgbClr val="F7F9FC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72821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28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2588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catalogue &amp; definitions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463040"/>
            <a:ext cx="3520440" cy="914400"/>
          </a:xfrm>
          <a:prstGeom prst="roundRect">
            <a:avLst>
              <a:gd name="adj" fmla="val 7000"/>
            </a:avLst>
          </a:prstGeom>
          <a:solidFill>
            <a:srgbClr val="F7F9FC"/>
          </a:solidFill>
          <a:ln/>
        </p:spPr>
      </p:sp>
      <p:sp>
        <p:nvSpPr>
          <p:cNvPr id="9" name="Shape 7"/>
          <p:cNvSpPr/>
          <p:nvPr/>
        </p:nvSpPr>
        <p:spPr>
          <a:xfrm>
            <a:off x="4480560" y="172821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4480560" y="1728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&amp; rate card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0" y="1463040"/>
            <a:ext cx="3520440" cy="914400"/>
          </a:xfrm>
          <a:prstGeom prst="roundRect">
            <a:avLst>
              <a:gd name="adj" fmla="val 7000"/>
            </a:avLst>
          </a:prstGeom>
          <a:solidFill>
            <a:srgbClr val="F7F9FC"/>
          </a:solidFill>
          <a:ln/>
        </p:spPr>
      </p:sp>
      <p:sp>
        <p:nvSpPr>
          <p:cNvPr id="13" name="Shape 11"/>
          <p:cNvSpPr/>
          <p:nvPr/>
        </p:nvSpPr>
        <p:spPr>
          <a:xfrm>
            <a:off x="8138160" y="172821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/>
          <p:nvPr/>
        </p:nvSpPr>
        <p:spPr>
          <a:xfrm>
            <a:off x="8138160" y="1728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4108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 (Cyber Essentials, insurance)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2542032"/>
            <a:ext cx="3520440" cy="914400"/>
          </a:xfrm>
          <a:prstGeom prst="roundRect">
            <a:avLst>
              <a:gd name="adj" fmla="val 7000"/>
            </a:avLst>
          </a:prstGeom>
          <a:solidFill>
            <a:srgbClr val="F7F9FC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2807208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2807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25880" y="263347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set (8 minimum policies)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97680" y="2542032"/>
            <a:ext cx="3520440" cy="914400"/>
          </a:xfrm>
          <a:prstGeom prst="roundRect">
            <a:avLst>
              <a:gd name="adj" fmla="val 7000"/>
            </a:avLst>
          </a:prstGeom>
          <a:solidFill>
            <a:srgbClr val="F7F9FC"/>
          </a:solidFill>
          <a:ln/>
        </p:spPr>
      </p:sp>
      <p:sp>
        <p:nvSpPr>
          <p:cNvPr id="21" name="Shape 19"/>
          <p:cNvSpPr/>
          <p:nvPr/>
        </p:nvSpPr>
        <p:spPr>
          <a:xfrm>
            <a:off x="4480560" y="2807208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/>
          <p:nvPr/>
        </p:nvSpPr>
        <p:spPr>
          <a:xfrm>
            <a:off x="4480560" y="2807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83480" y="263347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studies (4–5, validated internally)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955280" y="2542032"/>
            <a:ext cx="3520440" cy="914400"/>
          </a:xfrm>
          <a:prstGeom prst="roundRect">
            <a:avLst>
              <a:gd name="adj" fmla="val 7000"/>
            </a:avLst>
          </a:prstGeom>
          <a:solidFill>
            <a:srgbClr val="F7F9FC"/>
          </a:solidFill>
          <a:ln/>
        </p:spPr>
      </p:sp>
      <p:sp>
        <p:nvSpPr>
          <p:cNvPr id="25" name="Shape 23"/>
          <p:cNvSpPr/>
          <p:nvPr/>
        </p:nvSpPr>
        <p:spPr>
          <a:xfrm>
            <a:off x="8138160" y="2807208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6" name="Text 24"/>
          <p:cNvSpPr/>
          <p:nvPr/>
        </p:nvSpPr>
        <p:spPr>
          <a:xfrm>
            <a:off x="8138160" y="2807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641080" y="263347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artefacts (architecture, IaC examples)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3621024"/>
            <a:ext cx="3520440" cy="914400"/>
          </a:xfrm>
          <a:prstGeom prst="roundRect">
            <a:avLst>
              <a:gd name="adj" fmla="val 7000"/>
            </a:avLst>
          </a:prstGeom>
          <a:solidFill>
            <a:srgbClr val="F7F9FC"/>
          </a:solidFill>
          <a:ln/>
        </p:spPr>
      </p:sp>
      <p:sp>
        <p:nvSpPr>
          <p:cNvPr id="29" name="Shape 27"/>
          <p:cNvSpPr/>
          <p:nvPr/>
        </p:nvSpPr>
        <p:spPr>
          <a:xfrm>
            <a:off x="822960" y="3886200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325880" y="371246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bid library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97680" y="3621024"/>
            <a:ext cx="3520440" cy="914400"/>
          </a:xfrm>
          <a:prstGeom prst="roundRect">
            <a:avLst>
              <a:gd name="adj" fmla="val 7000"/>
            </a:avLst>
          </a:prstGeom>
          <a:solidFill>
            <a:srgbClr val="F7F9FC"/>
          </a:solidFill>
          <a:ln/>
        </p:spPr>
      </p:sp>
      <p:sp>
        <p:nvSpPr>
          <p:cNvPr id="33" name="Shape 31"/>
          <p:cNvSpPr/>
          <p:nvPr/>
        </p:nvSpPr>
        <p:spPr>
          <a:xfrm>
            <a:off x="4480560" y="3886200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4" name="Text 32"/>
          <p:cNvSpPr/>
          <p:nvPr/>
        </p:nvSpPr>
        <p:spPr>
          <a:xfrm>
            <a:off x="44805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983480" y="371246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DOS7 scoping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955280" y="3621024"/>
            <a:ext cx="3520440" cy="914400"/>
          </a:xfrm>
          <a:prstGeom prst="roundRect">
            <a:avLst>
              <a:gd name="adj" fmla="val 7000"/>
            </a:avLst>
          </a:prstGeom>
          <a:solidFill>
            <a:srgbClr val="F7F9FC"/>
          </a:solidFill>
          <a:ln/>
        </p:spPr>
      </p:sp>
      <p:sp>
        <p:nvSpPr>
          <p:cNvPr id="37" name="Shape 35"/>
          <p:cNvSpPr/>
          <p:nvPr/>
        </p:nvSpPr>
        <p:spPr>
          <a:xfrm>
            <a:off x="8138160" y="3886200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8" name="Text 36"/>
          <p:cNvSpPr/>
          <p:nvPr/>
        </p:nvSpPr>
        <p:spPr>
          <a:xfrm>
            <a:off x="81381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641080" y="371246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G-Cloud 15 application (submit ~2028)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57200" y="64465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8: Next steps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 · G-Cloud Briefing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1B2A4A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82296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step: agree the checklist, then build the Jira epics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31520" y="3200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all sources and the complete checklist are in the companion document g-cloud-brief.md, stored alongside this deck in the project repo.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31520" y="58521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sources: Digital Marketplace (applytosupply.digitalmarketplace.service.gov.uk) · GOV.UK G-Cloud buyers' guide · Computer Weekly · Burges Salmon · PublicTechnology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G-Cloud Opportunity Briefing - CrozierScott</dc:title>
  <dc:subject>PptxGenJS Presentation</dc:subject>
  <dc:creator>Claude</dc:creator>
  <cp:lastModifiedBy>Claude</cp:lastModifiedBy>
  <cp:revision>1</cp:revision>
  <dcterms:created xsi:type="dcterms:W3CDTF">2026-07-01T14:31:48Z</dcterms:created>
  <dcterms:modified xsi:type="dcterms:W3CDTF">2026-07-01T14:31:48Z</dcterms:modified>
</cp:coreProperties>
</file>